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82" r:id="rId3"/>
    <p:sldId id="294" r:id="rId5"/>
    <p:sldId id="478" r:id="rId6"/>
    <p:sldId id="747" r:id="rId7"/>
    <p:sldId id="1155" r:id="rId8"/>
  </p:sldIdLst>
  <p:sldSz cx="12192000" cy="6858000"/>
  <p:notesSz cx="6858000" cy="9144000"/>
  <p:custDataLst>
    <p:tags r:id="rId13"/>
  </p:custDataLst>
  <p:defaultTextStyle>
    <a:lvl1pPr lvl="0" algn="l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/>
        <a:ea typeface="宋体" panose="02010600030101010101" pitchFamily="2" charset="-122"/>
      </a:defRPr>
    </a:lvl1pPr>
    <a:lvl2pPr marL="457200" lvl="1" algn="l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/>
        <a:ea typeface="宋体" panose="02010600030101010101" pitchFamily="2" charset="-122"/>
      </a:defRPr>
    </a:lvl2pPr>
    <a:lvl3pPr marL="914400" lvl="2" algn="l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/>
        <a:ea typeface="宋体" panose="02010600030101010101" pitchFamily="2" charset="-122"/>
      </a:defRPr>
    </a:lvl3pPr>
    <a:lvl4pPr marL="1371600" lvl="3" algn="l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/>
        <a:ea typeface="宋体" panose="02010600030101010101" pitchFamily="2" charset="-122"/>
      </a:defRPr>
    </a:lvl4pPr>
    <a:lvl5pPr marL="1828800" lvl="4" algn="l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/>
        <a:ea typeface="宋体" panose="02010600030101010101" pitchFamily="2" charset="-122"/>
      </a:defRPr>
    </a:lvl5pPr>
    <a:lvl6pPr marL="2286000" lvl="5" algn="l" defTabSz="914400">
      <a:defRPr kern="1200">
        <a:solidFill>
          <a:schemeClr val="tx1"/>
        </a:solidFill>
        <a:latin typeface="Arial" panose="020B0604020202020204"/>
        <a:ea typeface="宋体" panose="02010600030101010101" pitchFamily="2" charset="-122"/>
      </a:defRPr>
    </a:lvl6pPr>
    <a:lvl7pPr marL="2743200" lvl="6" algn="l" defTabSz="914400">
      <a:defRPr kern="1200">
        <a:solidFill>
          <a:schemeClr val="tx1"/>
        </a:solidFill>
        <a:latin typeface="Arial" panose="020B0604020202020204"/>
        <a:ea typeface="宋体" panose="02010600030101010101" pitchFamily="2" charset="-122"/>
      </a:defRPr>
    </a:lvl7pPr>
    <a:lvl8pPr marL="3200400" lvl="7" algn="l" defTabSz="914400">
      <a:defRPr kern="1200">
        <a:solidFill>
          <a:schemeClr val="tx1"/>
        </a:solidFill>
        <a:latin typeface="Arial" panose="020B0604020202020204"/>
        <a:ea typeface="宋体" panose="02010600030101010101" pitchFamily="2" charset="-122"/>
      </a:defRPr>
    </a:lvl8pPr>
    <a:lvl9pPr marL="3657600" lvl="8" algn="l" defTabSz="914400">
      <a:defRPr kern="1200">
        <a:solidFill>
          <a:schemeClr val="tx1"/>
        </a:solidFill>
        <a:latin typeface="Arial" panose="020B0604020202020204"/>
        <a:ea typeface="宋体" panose="02010600030101010101" pitchFamily="2" charset="-122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Administrator" initials="A" lastIdx="3" clrIdx="0"/>
  <p:cmAuthor id="3" name="XPUser" initials="X" lastIdx="0" clrIdx="1"/>
  <p:cmAuthor id="0" name="pc" initials="p" lastIdx="1" clrIdx="0"/>
  <p:cmAuthor id="4" name="fafa" initials="f" lastIdx="2" clrIdx="1"/>
  <p:cmAuthor id="5" name="王习习" initials="王" lastIdx="2" clrIdx="0"/>
  <p:cmAuthor id="6" name="lzq123" initials="l" lastIdx="1" clrIdx="4"/>
  <p:cmAuthor id="266988894" name="小廖" initials="小" lastIdx="2" clrIdx="2"/>
  <p:cmAuthor id="9" name="Jessica" initials="authorId_548915892" lastIdx="4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2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  <a:r>
              <a:rPr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月度达成情况</a:t>
            </a:r>
            <a:endParaRPr sz="1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到期数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达成数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</c:v>
                </c:pt>
                <c:pt idx="1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6729722"/>
        <c:axId val="63711333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26年达成率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0%</c:formatCode>
                <c:ptCount val="12"/>
                <c:pt idx="0">
                  <c:v>0.631578947368421</c:v>
                </c:pt>
                <c:pt idx="1">
                  <c:v>0.75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25年达成率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Sheet1!$E$2:$E$13</c:f>
              <c:numCache>
                <c:formatCode>0%</c:formatCode>
                <c:ptCount val="12"/>
                <c:pt idx="0">
                  <c:v>0.61</c:v>
                </c:pt>
                <c:pt idx="1">
                  <c:v>0.5</c:v>
                </c:pt>
                <c:pt idx="2">
                  <c:v>0.56</c:v>
                </c:pt>
                <c:pt idx="3">
                  <c:v>0.52</c:v>
                </c:pt>
                <c:pt idx="4">
                  <c:v>0.46</c:v>
                </c:pt>
                <c:pt idx="5">
                  <c:v>0.42</c:v>
                </c:pt>
                <c:pt idx="6">
                  <c:v>0.39</c:v>
                </c:pt>
                <c:pt idx="7">
                  <c:v>0.75</c:v>
                </c:pt>
                <c:pt idx="8">
                  <c:v>0.46</c:v>
                </c:pt>
                <c:pt idx="9">
                  <c:v>0.6</c:v>
                </c:pt>
                <c:pt idx="10">
                  <c:v>0.5</c:v>
                </c:pt>
                <c:pt idx="11">
                  <c:v>0.25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66780677"/>
        <c:axId val="675205825"/>
      </c:lineChart>
      <c:catAx>
        <c:axId val="64672972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</a:p>
        </c:txPr>
        <c:crossAx val="63711333"/>
        <c:crosses val="autoZero"/>
        <c:auto val="1"/>
        <c:lblAlgn val="ctr"/>
        <c:lblOffset val="100"/>
        <c:noMultiLvlLbl val="0"/>
      </c:catAx>
      <c:valAx>
        <c:axId val="6371133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</a:p>
        </c:txPr>
        <c:crossAx val="646729722"/>
        <c:crosses val="autoZero"/>
        <c:crossBetween val="between"/>
      </c:valAx>
      <c:catAx>
        <c:axId val="466780677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</a:p>
        </c:txPr>
        <c:crossAx val="675205825"/>
        <c:crosses val="autoZero"/>
        <c:auto val="1"/>
        <c:lblAlgn val="ctr"/>
        <c:lblOffset val="100"/>
        <c:noMultiLvlLbl val="0"/>
      </c:catAx>
      <c:valAx>
        <c:axId val="675205825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</a:p>
        </c:txPr>
        <c:crossAx val="46678067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f4f0b96-dd8d-45e2-a11f-b08800892915}"/>
      </c:ext>
    </c:extLst>
  </c:chart>
  <c:spPr>
    <a:noFill/>
    <a:ln>
      <a:noFill/>
    </a:ln>
    <a:effectLst/>
  </c:spPr>
  <c:txPr>
    <a:bodyPr/>
    <a:lstStyle/>
    <a:p>
      <a:pPr>
        <a:defRPr lang="zh-CN"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  <a:sym typeface="宋体" panose="02010600030101010101" pitchFamily="2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9" dt="2026-07-23T14:23:02.325" idx="1">
    <p:pos x="10" y="10"/>
    <p:text>1.到期数：上月19日到当月18日到期的任务项数量。2.达成数：上月19日到当月18日完成的任务项数量。3.达成率=达成数/到期数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9" dt="2026-07-23T14:27:14.380" idx="2">
    <p:pos x="10" y="10"/>
    <p:text>上月19日到当月18日未完成的任务项重新确定节点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9" dt="2026-07-23T14:31:35.073" idx="3">
    <p:pos x="10" y="10"/>
    <p:text>8.验货订单提前2天入库：根据验货申请查询对应销售订单的入库单时间  获取验货数量与及时入库数量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9" dt="2026-07-23T14:35:44.688" idx="4">
    <p:pos x="10" y="10"/>
    <p:text>取数标准：上月16日到当月15日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13B20-8BB8-B74B-ADB5-DA5707988F1E}" type="datetimeFigureOut">
              <a:rPr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674F-E567-AA4B-8C16-788D7CE21C4F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3BCA967-B83F-4F46-AF49-FD20AE9E433E}" type="datetime1">
              <a:rPr lang="zh-CN" altLang="en-US"/>
            </a:fld>
            <a:endParaRPr lang="zh-CN"/>
          </a:p>
        </p:txBody>
      </p:sp>
      <p:sp>
        <p:nvSpPr>
          <p:cNvPr id="3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A762D1-1E56-4EDF-A134-0504A84F1757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3F85AF1-CF2D-460A-B732-BC5EF81EEFB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02017-A114-4C94-B495-6932991769B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11078210" y="6524625"/>
            <a:ext cx="1113790" cy="33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1" i="0" u="none" kern="1200" baseline="0">
                <a:solidFill>
                  <a:schemeClr val="hlink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1" i="0" u="none" kern="1200" baseline="0">
                <a:solidFill>
                  <a:schemeClr val="hlink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1" i="0" u="none" kern="1200" baseline="0">
                <a:solidFill>
                  <a:schemeClr val="hlink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1" i="0" u="none" kern="1200" baseline="0">
                <a:solidFill>
                  <a:schemeClr val="hlink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1" i="0" u="none" kern="1200" baseline="0">
                <a:solidFill>
                  <a:schemeClr val="hlink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Font typeface="Wingdings" panose="05000000000000000000" pitchFamily="2" charset="2"/>
              <a:buNone/>
            </a:pPr>
            <a:fld id="{9A0DB2DC-4C9A-4742-B13C-FB6460FD3503}" type="slidenum">
              <a:rPr lang="en-US" altLang="en-US" sz="2000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</a:fld>
            <a:endParaRPr lang="en-US" altLang="en-US" sz="200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762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marL="914400" lvl="0" indent="-914400" algn="l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Arial" panose="020B0604020202020204"/>
          <a:ea typeface="微软雅黑" panose="020B0503020204020204" charset="-122"/>
        </a:defRPr>
      </a:lvl1pPr>
      <a:lvl2pPr marL="914400" lvl="1" indent="-914400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/>
        </a:defRPr>
      </a:lvl2pPr>
      <a:lvl3pPr marL="914400" lvl="2" indent="-914400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/>
        </a:defRPr>
      </a:lvl3pPr>
      <a:lvl4pPr marL="914400" lvl="3" indent="-914400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/>
        </a:defRPr>
      </a:lvl4pPr>
      <a:lvl5pPr marL="914400" lvl="4" indent="-914400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/>
        </a:defRPr>
      </a:lvl5pPr>
      <a:lvl6pPr marL="1371600" lvl="5" indent="-914400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/>
        </a:defRPr>
      </a:lvl6pPr>
      <a:lvl7pPr marL="1828800" lvl="6" indent="-914400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/>
        </a:defRPr>
      </a:lvl7pPr>
      <a:lvl8pPr marL="2286000" lvl="7" indent="-914400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/>
        </a:defRPr>
      </a:lvl8pPr>
      <a:lvl9pPr marL="2743200" lvl="8" indent="-914400" algn="l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/>
        </a:defRPr>
      </a:lvl9pPr>
    </p:titleStyle>
    <p:bodyStyle>
      <a:lvl1pPr marL="228600" lvl="0" indent="-228600" algn="l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  <a:lvl2pPr marL="685800" lvl="1" algn="l" defTabSz="0">
        <a:lnSpc>
          <a:spcPct val="432000"/>
        </a:lnSpc>
        <a:spcBef>
          <a:spcPct val="432000"/>
        </a:spcBef>
        <a:spcAft>
          <a:spcPct val="432000"/>
        </a:spcAft>
        <a:buFont typeface="Arial" panose="020B0604020202020204" pitchFamily="34" charset="0"/>
        <a:defRPr sz="2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2pPr>
      <a:lvl3pPr marL="685800" lvl="2" indent="1143000" algn="l" defTabSz="0">
        <a:lnSpc>
          <a:spcPct val="432000"/>
        </a:lnSpc>
        <a:spcBef>
          <a:spcPct val="432000"/>
        </a:spcBef>
        <a:spcAft>
          <a:spcPct val="432000"/>
        </a:spcAft>
        <a:buFont typeface="Arial" panose="020B0604020202020204" pitchFamily="34" charset="0"/>
        <a:defRPr sz="2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3pPr>
      <a:lvl4pPr marL="1371600" lvl="3" algn="l" defTabSz="0">
        <a:lnSpc>
          <a:spcPct val="432000"/>
        </a:lnSpc>
        <a:spcBef>
          <a:spcPct val="432000"/>
        </a:spcBef>
        <a:spcAft>
          <a:spcPct val="432000"/>
        </a:spcAft>
        <a:buFont typeface="Arial" panose="020B0604020202020204" pitchFamily="34" charset="0"/>
        <a:defRPr sz="20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4pPr>
      <a:lvl5pPr marL="1828800" lvl="4" algn="l" defTabSz="0">
        <a:lnSpc>
          <a:spcPct val="432000"/>
        </a:lnSpc>
        <a:spcBef>
          <a:spcPct val="432000"/>
        </a:spcBef>
        <a:spcAft>
          <a:spcPct val="432000"/>
        </a:spcAft>
        <a:buFont typeface="Calibri Light" panose="020F0302020204030204" charset="0"/>
        <a:defRPr sz="20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5pPr>
      <a:lvl6pPr marL="2514600" lvl="5" indent="-228600" algn="l" defTabSz="0">
        <a:lnSpc>
          <a:spcPct val="432000"/>
        </a:lnSpc>
        <a:spcBef>
          <a:spcPct val="432000"/>
        </a:spcBef>
        <a:spcAft>
          <a:spcPct val="432000"/>
        </a:spcAft>
        <a:buFont typeface="Calibri Light" panose="020F0302020204030204" charset="0"/>
        <a:buNone/>
        <a:defRPr sz="2000" b="0" i="0" kern="1200">
          <a:latin typeface="Arial" panose="020B0604020202020204"/>
          <a:ea typeface="微软雅黑" panose="020B0503020204020204" charset="-122"/>
        </a:defRPr>
      </a:lvl6pPr>
      <a:lvl7pPr marL="2971800" lvl="6" indent="-228600" algn="l" defTabSz="0">
        <a:lnSpc>
          <a:spcPct val="432000"/>
        </a:lnSpc>
        <a:spcBef>
          <a:spcPct val="432000"/>
        </a:spcBef>
        <a:spcAft>
          <a:spcPct val="432000"/>
        </a:spcAft>
        <a:buFont typeface="Calibri Light" panose="020F0302020204030204" charset="0"/>
        <a:buNone/>
        <a:defRPr sz="2000" b="0" i="0" kern="1200">
          <a:latin typeface="Arial" panose="020B0604020202020204"/>
          <a:ea typeface="微软雅黑" panose="020B0503020204020204" charset="-122"/>
        </a:defRPr>
      </a:lvl7pPr>
      <a:lvl8pPr marL="3429000" lvl="7" indent="-228600" algn="l" defTabSz="0">
        <a:lnSpc>
          <a:spcPct val="432000"/>
        </a:lnSpc>
        <a:spcBef>
          <a:spcPct val="432000"/>
        </a:spcBef>
        <a:spcAft>
          <a:spcPct val="432000"/>
        </a:spcAft>
        <a:buFont typeface="Calibri Light" panose="020F0302020204030204" charset="0"/>
        <a:buNone/>
        <a:defRPr sz="2000" b="0" i="0" kern="1200">
          <a:latin typeface="Arial" panose="020B0604020202020204"/>
          <a:ea typeface="微软雅黑" panose="020B0503020204020204" charset="-122"/>
        </a:defRPr>
      </a:lvl8pPr>
      <a:lvl9pPr marL="3886200" lvl="8" indent="-228600" algn="l" defTabSz="0">
        <a:lnSpc>
          <a:spcPct val="432000"/>
        </a:lnSpc>
        <a:spcBef>
          <a:spcPct val="432000"/>
        </a:spcBef>
        <a:spcAft>
          <a:spcPct val="432000"/>
        </a:spcAft>
        <a:buFont typeface="Calibri Light" panose="020F0302020204030204" charset="0"/>
        <a:buNone/>
        <a:defRPr sz="2000" b="0" i="0" kern="1200">
          <a:latin typeface="Arial" panose="020B0604020202020204"/>
          <a:ea typeface="微软雅黑" panose="020B0503020204020204" charset="-122"/>
        </a:defRPr>
      </a:lvl9pPr>
    </p:bodyStyle>
    <p:otherStyle>
      <a:lvl1pPr marL="0" lvl="0" indent="0" algn="l" defTabSz="9144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  <a:lvl2pPr marL="457200" lvl="1" indent="0" algn="l" defTabSz="9144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Arial" panose="020B0604020202020204"/>
          <a:ea typeface="宋体" panose="02010600030101010101" pitchFamily="2" charset="-122"/>
        </a:defRPr>
      </a:lvl2pPr>
      <a:lvl3pPr marL="914400" lvl="2" indent="0" algn="l" defTabSz="9144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Arial" panose="020B0604020202020204"/>
          <a:ea typeface="宋体" panose="02010600030101010101" pitchFamily="2" charset="-122"/>
        </a:defRPr>
      </a:lvl3pPr>
      <a:lvl4pPr marL="1371600" lvl="3" indent="0" algn="l" defTabSz="9144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Arial" panose="020B0604020202020204"/>
          <a:ea typeface="宋体" panose="02010600030101010101" pitchFamily="2" charset="-122"/>
        </a:defRPr>
      </a:lvl4pPr>
      <a:lvl5pPr marL="1828800" lvl="4" indent="0" algn="l" defTabSz="9144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Arial" panose="020B0604020202020204"/>
          <a:ea typeface="宋体" panose="02010600030101010101" pitchFamily="2" charset="-122"/>
        </a:defRPr>
      </a:lvl5pPr>
      <a:lvl6pPr marL="2286000" lvl="5" indent="0" algn="l" defTabSz="9144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Arial" panose="020B0604020202020204"/>
          <a:ea typeface="宋体" panose="02010600030101010101" pitchFamily="2" charset="-122"/>
        </a:defRPr>
      </a:lvl6pPr>
      <a:lvl7pPr marL="2743200" lvl="6" indent="0" algn="l" defTabSz="9144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Arial" panose="020B0604020202020204"/>
          <a:ea typeface="宋体" panose="02010600030101010101" pitchFamily="2" charset="-122"/>
        </a:defRPr>
      </a:lvl7pPr>
      <a:lvl8pPr marL="3200400" lvl="7" indent="0" algn="l" defTabSz="9144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Arial" panose="020B0604020202020204"/>
          <a:ea typeface="宋体" panose="02010600030101010101" pitchFamily="2" charset="-122"/>
        </a:defRPr>
      </a:lvl8pPr>
      <a:lvl9pPr marL="3657600" lvl="8" indent="0" algn="l" defTabSz="9144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Arial" panose="020B0604020202020204"/>
          <a:ea typeface="宋体" panose="02010600030101010101" pitchFamily="2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标题 1"/>
          <p:cNvSpPr>
            <a:spLocks noGrp="1" noChangeArrowheads="1"/>
          </p:cNvSpPr>
          <p:nvPr>
            <p:ph type="ctrTitle" idx="4294967295"/>
          </p:nvPr>
        </p:nvSpPr>
        <p:spPr>
          <a:xfrm>
            <a:off x="1271270" y="1988820"/>
            <a:ext cx="9765665" cy="3088640"/>
          </a:xfrm>
        </p:spPr>
        <p:txBody>
          <a:bodyPr vert="horz" wrap="square" anchor="t" anchorCtr="0"/>
          <a:lstStyle/>
          <a:p>
            <a:pPr marL="0" indent="0" algn="ctr">
              <a:lnSpc>
                <a:spcPct val="100000"/>
              </a:lnSpc>
            </a:pPr>
            <a:r>
              <a:rPr lang="en-US" sz="7200" b="1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sz="7200" b="1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7200" b="1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7200" b="1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br>
              <a:rPr lang="zh-CN" sz="7200" b="1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</a:br>
            <a:r>
              <a:rPr lang="zh-CN" sz="7200" b="1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产销协调会</a:t>
            </a:r>
            <a:br>
              <a:rPr lang="zh-CN" sz="7200" b="1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</a:br>
            <a:r>
              <a:rPr lang="zh-CN" sz="7200" b="1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稽核报告</a:t>
            </a:r>
            <a:br>
              <a:rPr lang="zh-CN" sz="7200" b="1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</a:br>
            <a:endParaRPr lang="zh-CN" sz="7200" b="1">
              <a:solidFill>
                <a:srgbClr val="FF0000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2" name="文本框 13"/>
          <p:cNvSpPr>
            <a:spLocks noChangeArrowheads="1"/>
          </p:cNvSpPr>
          <p:nvPr/>
        </p:nvSpPr>
        <p:spPr>
          <a:xfrm>
            <a:off x="7320280" y="5516880"/>
            <a:ext cx="4757420" cy="9531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稽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核：</a:t>
            </a:r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戎双娇</a:t>
            </a:r>
            <a:endParaRPr lang="zh-CN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期：</a:t>
            </a:r>
            <a:r>
              <a:rPr 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</a:t>
            </a:r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</a:t>
            </a:r>
            <a:endParaRPr lang="zh-CN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日期占位符 1"/>
          <p:cNvSpPr>
            <a:spLocks noChangeArrowheads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lvl="0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457200" lvl="1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914400" lvl="2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1371600" lvl="3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1828800" lvl="4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endParaRPr lang="zh-CN" sz="1200">
              <a:solidFill>
                <a:srgbClr val="898989"/>
              </a:solidFill>
            </a:endParaRPr>
          </a:p>
        </p:txBody>
      </p:sp>
      <p:sp>
        <p:nvSpPr>
          <p:cNvPr id="8199" name="日期占位符 1"/>
          <p:cNvSpPr>
            <a:spLocks noChangeArrowheads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lvl="0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457200" lvl="1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914400" lvl="2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1371600" lvl="3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1828800" lvl="4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endParaRPr lang="zh-CN" sz="1200">
              <a:solidFill>
                <a:srgbClr val="898989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2136140" y="0"/>
            <a:ext cx="8278495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lvl1pPr lvl="0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457200" lvl="1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914400" lvl="2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1371600" lvl="3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1828800" lvl="4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r>
              <a:rPr lang="zh-CN" altLang="zh-CN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稽核小组</a:t>
            </a:r>
            <a:endParaRPr lang="zh-CN" altLang="zh-CN"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280" y="5589270"/>
            <a:ext cx="11134725" cy="984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>
            <a:lvl1pPr lvl="0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457200" lvl="1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914400" lvl="2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1371600" lvl="3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1828800" lvl="4" algn="l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ym typeface="+mn-ea"/>
              </a:rPr>
              <a:t>6</a:t>
            </a:r>
            <a:r>
              <a:rPr lang="zh-CN" altLang="en-US" sz="2400">
                <a:sym typeface="+mn-ea"/>
              </a:rPr>
              <a:t>月</a:t>
            </a:r>
            <a:r>
              <a:rPr lang="en-US" altLang="zh-CN" sz="2400">
                <a:sym typeface="+mn-ea"/>
              </a:rPr>
              <a:t>19</a:t>
            </a:r>
            <a:r>
              <a:rPr lang="zh-CN" altLang="en-US" sz="2400">
                <a:sym typeface="+mn-ea"/>
              </a:rPr>
              <a:t>日</a:t>
            </a:r>
            <a:r>
              <a:rPr lang="en-US" altLang="zh-CN" sz="2400">
                <a:sym typeface="+mn-ea"/>
              </a:rPr>
              <a:t>-7</a:t>
            </a:r>
            <a:r>
              <a:rPr lang="zh-CN" altLang="en-US" sz="2400">
                <a:sym typeface="+mn-ea"/>
              </a:rPr>
              <a:t>月</a:t>
            </a:r>
            <a:r>
              <a:rPr lang="en-US" altLang="zh-CN" sz="2400">
                <a:sym typeface="+mn-ea"/>
              </a:rPr>
              <a:t>18</a:t>
            </a:r>
            <a:r>
              <a:rPr lang="zh-CN" altLang="en-US" sz="2400">
                <a:sym typeface="+mn-ea"/>
              </a:rPr>
              <a:t>日产销会数据库执行事项达成率：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到期事项</a:t>
            </a:r>
            <a:r>
              <a:rPr lang="en-US" altLang="zh-CN" sz="2400">
                <a:sym typeface="+mn-ea"/>
              </a:rPr>
              <a:t>10</a:t>
            </a:r>
            <a:r>
              <a:rPr lang="zh-CN" altLang="en-US" sz="2400">
                <a:sym typeface="+mn-ea"/>
              </a:rPr>
              <a:t>项，达成事项</a:t>
            </a:r>
            <a:r>
              <a:rPr lang="en-US" altLang="zh-CN" sz="2400">
                <a:sym typeface="+mn-ea"/>
              </a:rPr>
              <a:t>5</a:t>
            </a:r>
            <a:r>
              <a:rPr lang="zh-CN" altLang="en-US" sz="2400">
                <a:sym typeface="+mn-ea"/>
              </a:rPr>
              <a:t>项，事项达成率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50%</a:t>
            </a:r>
            <a:r>
              <a:rPr lang="zh-CN" altLang="en-US" sz="2400">
                <a:sym typeface="+mn-ea"/>
              </a:rPr>
              <a:t>，较上月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提升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13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%</a:t>
            </a:r>
            <a:r>
              <a:rPr lang="zh-CN" altLang="en-US" sz="2400">
                <a:sym typeface="+mn-ea"/>
              </a:rPr>
              <a:t>。</a:t>
            </a:r>
            <a:endParaRPr lang="zh-CN" altLang="en-US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101600" y="2224405"/>
          <a:ext cx="1198816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350"/>
                <a:gridCol w="833120"/>
                <a:gridCol w="834390"/>
                <a:gridCol w="833120"/>
                <a:gridCol w="834390"/>
                <a:gridCol w="833120"/>
                <a:gridCol w="834390"/>
                <a:gridCol w="833755"/>
                <a:gridCol w="833755"/>
                <a:gridCol w="833755"/>
                <a:gridCol w="833755"/>
                <a:gridCol w="833755"/>
                <a:gridCol w="833755"/>
                <a:gridCol w="833755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2026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合计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到期数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96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达成数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47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达成率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75%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50%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42%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44%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50%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49%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191770" y="3769360"/>
          <a:ext cx="11774170" cy="1805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4"/>
            </p:custDataLst>
          </p:nvPr>
        </p:nvGraphicFramePr>
        <p:xfrm>
          <a:off x="101600" y="611505"/>
          <a:ext cx="1200912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620"/>
                <a:gridCol w="835660"/>
                <a:gridCol w="835025"/>
                <a:gridCol w="835660"/>
                <a:gridCol w="835025"/>
                <a:gridCol w="835025"/>
                <a:gridCol w="835660"/>
                <a:gridCol w="834390"/>
                <a:gridCol w="835660"/>
                <a:gridCol w="835025"/>
                <a:gridCol w="835660"/>
                <a:gridCol w="835025"/>
                <a:gridCol w="835660"/>
                <a:gridCol w="835025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合计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到期数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27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207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达成数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104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达成率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61%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50%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56%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52%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46%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42%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75%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46%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50%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25%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50%</a:t>
                      </a:r>
                      <a:endParaRPr lang="en-US" altLang="zh-CN" sz="2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320" y="836930"/>
            <a:ext cx="12192000" cy="26257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450"/>
            <a:ext cx="10515600" cy="631190"/>
          </a:xfrm>
        </p:spPr>
        <p:txBody>
          <a:bodyPr/>
          <a:p>
            <a:pPr algn="ctr"/>
            <a:r>
              <a:rPr lang="zh-CN" altLang="zh-CN" sz="3200" b="1">
                <a:solidFill>
                  <a:srgbClr val="FF0000"/>
                </a:solidFill>
              </a:rPr>
              <a:t>未完成项检讨</a:t>
            </a:r>
            <a:endParaRPr lang="zh-CN" altLang="zh-CN" sz="3200" b="1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92035" y="1412875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FF0000"/>
                </a:solidFill>
              </a:rPr>
              <a:t>68%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92035" y="2564765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FF0000"/>
                </a:solidFill>
              </a:rPr>
              <a:t>40%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92035" y="2997200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FF0000"/>
                </a:solidFill>
              </a:rPr>
              <a:t>43%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450"/>
            <a:ext cx="10515600" cy="631190"/>
          </a:xfrm>
        </p:spPr>
        <p:txBody>
          <a:bodyPr/>
          <a:p>
            <a:pPr algn="ctr"/>
            <a:r>
              <a:rPr lang="zh-CN" altLang="zh-CN" sz="3200" b="1">
                <a:solidFill>
                  <a:srgbClr val="FF0000"/>
                </a:solidFill>
              </a:rPr>
              <a:t>持续项及未回复项汇报</a:t>
            </a:r>
            <a:endParaRPr lang="zh-CN" altLang="zh-CN" sz="3200" b="1">
              <a:solidFill>
                <a:srgbClr val="FF0000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0" y="541020"/>
          <a:ext cx="12198350" cy="600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710"/>
                <a:gridCol w="6173470"/>
                <a:gridCol w="1501775"/>
                <a:gridCol w="1056005"/>
                <a:gridCol w="1113155"/>
                <a:gridCol w="162623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提议内容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节点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部门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责任人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执行情况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917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 eaLnBrk="1" fontAlgn="ctr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SOP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受控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签发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工程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份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5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客诉整改须在下一批订单生产时再验证确认是否闭环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品质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沈建凯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客诉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6934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输出光源的订单标准（含实物、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CDF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、测试标准、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BOM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等）并开始执行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品质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沈建凯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未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执行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848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 eaLnBrk="1" fontAlgn="ctr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新产品增加电子试产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--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执行（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9/20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开始）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研发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虞周峰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低价内置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微波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486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 eaLnBrk="1" fontAlgn="ctr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新产品技转时提供爆炸图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--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内部项目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11/20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开始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研发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虞周峰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灵耀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爆炸图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4025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 eaLnBrk="1" fontAlgn="ctr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项目立项评审须供应链人员参与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研发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虞周峰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通知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4025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研发技转时，提供完整、签字版资料两套给供应链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研发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虞周峰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有提供电子扫描档（朱总、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品质）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575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 eaLnBrk="1" fontAlgn="ctr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验货订单提前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天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入库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计划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李玉英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14/18=78%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52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 eaLnBrk="1" fontAlgn="ctr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样品交付节点标准为给到销售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--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执行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计划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李玉英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OK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30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 eaLnBrk="1" fontAlgn="ctr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每月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</a:t>
                      </a: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日销售提供签字版出货计划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持续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销售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沈旭日</a:t>
                      </a:r>
                      <a:endParaRPr lang="zh-CN" altLang="en-US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一次未完成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315" y="620395"/>
            <a:ext cx="8838565" cy="61334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TABLE_ENDDRAG_ORIGIN_RECT" val="943*123"/>
  <p:tag name="TABLE_ENDDRAG_RECT" val="8*54*943*123"/>
</p:tagLst>
</file>

<file path=ppt/tags/tag5.xml><?xml version="1.0" encoding="utf-8"?>
<p:tagLst xmlns:p="http://schemas.openxmlformats.org/presentationml/2006/main">
  <p:tag name="TABLE_ENDDRAG_ORIGIN_RECT" val="945*118"/>
  <p:tag name="TABLE_ENDDRAG_RECT" val="8*196*945*118"/>
</p:tagLst>
</file>

<file path=ppt/tags/tag6.xml><?xml version="1.0" encoding="utf-8"?>
<p:tagLst xmlns:p="http://schemas.openxmlformats.org/presentationml/2006/main">
  <p:tag name="TABLE_ENDDRAG_ORIGIN_RECT" val="902*319"/>
  <p:tag name="TABLE_ENDDRAG_RECT" val="11*65*902*319"/>
</p:tagLst>
</file>

<file path=ppt/tags/tag7.xml><?xml version="1.0" encoding="utf-8"?>
<p:tagLst xmlns:p="http://schemas.openxmlformats.org/presentationml/2006/main">
  <p:tag name="KSO_WPP_MARK_KEY" val="7db82c75-5ea0-4a2c-85ba-dacbe4534896"/>
  <p:tag name="COMMONDATA" val="eyJoZGlkIjoiNTdmMGM0ODJlZDg0NThkZDA5YTc5ZjM2ZjY3ZTY5ZWEifQ=="/>
  <p:tag name="commondata" val="eyJoZGlkIjoiMTUwOTA1OGIwMzc5OWMzYzk2YzdmNDU2MWY2MzBiNj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WPS 演示</Application>
  <PresentationFormat/>
  <Paragraphs>344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楷体</vt:lpstr>
      <vt:lpstr>微软雅黑</vt:lpstr>
      <vt:lpstr>Calibri Light</vt:lpstr>
      <vt:lpstr>Arial Unicode MS</vt:lpstr>
      <vt:lpstr>Times New Roman</vt:lpstr>
      <vt:lpstr>Arial Unicode MS</vt:lpstr>
      <vt:lpstr>黑体</vt:lpstr>
      <vt:lpstr>等线</vt:lpstr>
      <vt:lpstr>Noto Sans SC</vt:lpstr>
      <vt:lpstr>Office 主题​​</vt:lpstr>
      <vt:lpstr>2026年7月 产销协调会 稽核报告 </vt:lpstr>
      <vt:lpstr>PowerPoint 演示文稿</vt:lpstr>
      <vt:lpstr>未完成项检讨</vt:lpstr>
      <vt:lpstr>持续项及未回复项汇报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2023年3月经营会议</dc:title>
  <dc:creator/>
  <cp:lastModifiedBy>Jessica</cp:lastModifiedBy>
  <cp:revision>321</cp:revision>
  <dcterms:created xsi:type="dcterms:W3CDTF">2023-04-10T09:59:00Z</dcterms:created>
  <dcterms:modified xsi:type="dcterms:W3CDTF">2026-07-23T06:37:04Z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389AC15B52BF44989B8B2314D17101D9_13</vt:lpwstr>
  </property>
  <property fmtid="{D5CDD505-2E9C-101B-9397-08002B2CF9AE}" pid="3" name="KSOProductBuildVer">
    <vt:lpwstr>2052-12.1.0.26895</vt:lpwstr>
  </property>
</Properties>
</file>